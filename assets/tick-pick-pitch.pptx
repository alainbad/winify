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0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429000"/>
          </a:xfrm>
          <a:prstGeom prst="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0" y="1097280"/>
            <a:ext cx="731520" cy="7315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0" y="11887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097280"/>
            <a:ext cx="2743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Tick</a:t>
            </a:r>
            <a:r>
              <a:rPr sz="3600" b="1">
                <a:solidFill>
                  <a:srgbClr val="F59E0B"/>
                </a:solidFill>
              </a:rPr>
              <a:t>Pick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103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59E0B"/>
                </a:solidFill>
              </a:rPr>
              <a:t>INVESTOR PITCH - 2026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468880"/>
            <a:ext cx="8531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The Fairest Prize Competition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291840"/>
            <a:ext cx="8531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CA3AF"/>
                </a:solidFill>
              </a:rPr>
              <a:t>Enter for $5. Win up to $1,000. Every draw certified by RANDOM.ORG — fully automated, fully transparent.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4206240"/>
            <a:ext cx="2377440" cy="36576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42245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C3AED"/>
                </a:solidFill>
              </a:rPr>
              <a:t>Live at tick-pick.com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4206240"/>
            <a:ext cx="2377440" cy="36576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42245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9E0B"/>
                </a:solidFill>
              </a:rPr>
              <a:t>$5 per ticket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206240"/>
            <a:ext cx="2377440" cy="36576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42245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0B981"/>
                </a:solidFill>
              </a:rPr>
              <a:t>RANDOM.ORG 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Prize competitions are broken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66160" cy="32004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No Transparency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Traditional competitions hide draw processes.
Users have no way to verify the draw was fair.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66160" cy="32004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Hidden Costs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7744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Complex pricing, subscriptions, and variable
ticket costs make it hard to know what you pay.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566160" cy="32004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Manual &amp; Slow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37744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Draws are often manual, delayed, and
operator-dependent. Winners wait days for results.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20640"/>
            <a:ext cx="11064240" cy="731520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The global online prize competition market is valued at </a:t>
            </a:r>
            <a:r>
              <a:rPr sz="1400" b="1">
                <a:solidFill>
                  <a:srgbClr val="F59E0B"/>
                </a:solidFill>
              </a:rPr>
              <a:t>$10B+</a:t>
            </a:r>
            <a:r>
              <a:rPr sz="1300">
                <a:solidFill>
                  <a:srgbClr val="FFFFFF"/>
                </a:solidFill>
              </a:rPr>
              <a:t> and growing 15% YoY — yet no platform has solved trust at scale.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Simple, Fair, Automated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0292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Browse &amp; 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Users browse competitions by tier and enter for a flat $5 fee. No subscriptions, no hidden costs.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34639"/>
            <a:ext cx="50292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880359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Pool Fills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15467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Each competition has a fixed ticket count. Platform tracks entries in real time and closes when full.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31920"/>
            <a:ext cx="50292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9776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Instant Draw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2519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Last ticket sold triggers RANDOM.ORG automatically. A winner is selected in under 2 seconds.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29200"/>
            <a:ext cx="50292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749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029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Prize Delivered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Winner emailed instantly. Prize delivered within 24 hours. Result published publicly forever.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463040"/>
            <a:ext cx="4846320" cy="5029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0" y="1463040"/>
            <a:ext cx="4846320" cy="411480"/>
          </a:xfrm>
          <a:prstGeom prst="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0" y="1508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tick-pick.com/browse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0880" y="2057400"/>
            <a:ext cx="44805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2148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MEGA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377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033"/>
                </a:solidFill>
              </a:rPr>
              <a:t>$1,000 Amazon Voucher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23760" y="2788920"/>
            <a:ext cx="3931920" cy="10972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223760" y="2788920"/>
            <a:ext cx="2870301" cy="10972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0" y="2971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73% sold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29718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7C3AED"/>
                </a:solidFill>
              </a:rPr>
              <a:t>$5.00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80" y="3429000"/>
            <a:ext cx="44805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0" y="3520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VOLUME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49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033"/>
                </a:solidFill>
              </a:rPr>
              <a:t>$300 Netflix Bundle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160520"/>
            <a:ext cx="3931920" cy="10972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223760" y="4160520"/>
            <a:ext cx="3460089" cy="10972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0" y="43434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88% sold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43434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7C3AED"/>
                </a:solidFill>
              </a:rPr>
              <a:t>$5.00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40880" y="4800600"/>
            <a:ext cx="44805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60" y="4892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MICRO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120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033"/>
                </a:solidFill>
              </a:rPr>
              <a:t>$100 Starbucks Card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23760" y="5532120"/>
            <a:ext cx="3931920" cy="10972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223760" y="5532120"/>
            <a:ext cx="2044598" cy="10972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23760" y="57150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52% sold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7150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7C3AED"/>
                </a:solidFill>
              </a:rPr>
              <a:t>$5.00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Profitable by design — every pool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81912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91056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MICRO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600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$50 prize  -  15 tickets  -  $75 collected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600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29967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19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12263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MICRO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121407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$75 prize  -  20 tickets  -  $100 collected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121407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51176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624328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33472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64261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$100 prize  -  25 tickets  -  $125 collected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64261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072384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145536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54680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VOLUME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1638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$150 prize  -  45 tickets  -  $225 collected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16382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+$75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93591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3666743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675887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VOLUME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3685031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$200 prize  -  60 tickets  -  $300 collected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685031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+$100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14800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4187952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197096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VOLUME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4206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$300 prize  -  90 tickets  -  $450 collected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206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+$150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636008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4709160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718304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MEGA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472744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$500 prize  -  150 tickets  -  $750 collected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72744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+$250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157216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0080" y="5230368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239512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MEGA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524865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$750 prize  -  200 tickets  -  $1,000 collected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524865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+$250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678423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0080" y="5751575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5760719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MEGA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00200" y="5769863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$1,000 prize  -  300 tickets  -  $1,500 collected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5769863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+$500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89520" y="1508760"/>
            <a:ext cx="2194560" cy="173736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89520" y="1691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59E0B"/>
                </a:solidFill>
              </a:rPr>
              <a:t>33%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26060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Min. Gross Margin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0" y="1508760"/>
            <a:ext cx="2194560" cy="173736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66960" y="1691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7C3AED"/>
                </a:solidFill>
              </a:rP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60" y="26060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Active Competitions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589520" y="3520440"/>
            <a:ext cx="2194560" cy="173736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89520" y="3703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$1,500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89520" y="46177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Revenue / MEGA cycle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66960" y="3520440"/>
            <a:ext cx="2194560" cy="173736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66960" y="3703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10B981"/>
                </a:solidFill>
              </a:rPr>
              <a:t>$500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66960" y="46177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Profit / MEGA cycle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5943600"/>
            <a:ext cx="11064240" cy="411480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If all 28 pools complete once per month: </a:t>
            </a:r>
            <a:r>
              <a:rPr sz="1400" b="1">
                <a:solidFill>
                  <a:srgbClr val="F59E0B"/>
                </a:solidFill>
              </a:rPr>
              <a:t>~$14,800/mo revenue</a:t>
            </a:r>
            <a:r>
              <a:rPr sz="1300">
                <a:solidFill>
                  <a:srgbClr val="FFFFFF"/>
                </a:solidFill>
              </a:rPr>
              <a:t> with ~$4,900 profit — before scale.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3-Month Launch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3749039" cy="51206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MONTH 1 -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3383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Launch &amp; Awareness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59152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Launch MICRO pools first (lowest barrier to entry)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5351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35224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TikTok &amp; Instagram Reels — "watch a live draw"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9584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Seed with 3-5 free entries for early users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05656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87368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WhatsApp broadcast to personal network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81728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63440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Post in UAE/GCC Facebook deal groups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57800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239512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Run first draw publicly — share winner instantly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83387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15584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Target: 500 registered users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53540731360" y="1463040"/>
            <a:ext cx="3749039" cy="51206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53540914240" y="155448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MONTH 2 - Growth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3540914240" y="1874519"/>
            <a:ext cx="3383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Paid &amp; Referral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53540914240" y="2377440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53541234280" y="2359152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Launch referral: "Give $5, Get $5" program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53540914240" y="295351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3541234280" y="2935224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Instagram/TikTok paid ads targeting 18-35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3540914240" y="3529584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53541234280" y="3511296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Partner with micro-influencers (5K-50K followers)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53540914240" y="4105656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53541234280" y="4087368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Launch VOLUME pools as user trust builds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53540914240" y="4681728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53541234280" y="4663440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Email drip for registered users — push active pools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53540914240" y="5257800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53541234280" y="5239512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Google Ads: "prize competitions UAE"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553540914240" y="583387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3541234280" y="5815584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Target: 2,000 registered users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07081096960" y="1463040"/>
            <a:ext cx="3749039" cy="51206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07081279840" y="155448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MONTH 3 - Scale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07081279840" y="1874519"/>
            <a:ext cx="3383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MEGA &amp; Community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07081279840" y="2377440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07081599880" y="2359152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Launch first MEGA $1,000 pool with influencer promo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07081279840" y="295351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07081599880" y="2935224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Build Telegram/WhatsApp community group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07081279840" y="3529584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07081599880" y="3511296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Weekly "pool spotlight" email newsletter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07081279840" y="4105656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07081599880" y="4087368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Retargeting ads for non-converting visitors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107081279840" y="4681728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07081599880" y="4663440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SEO blog content &amp; affiliate program launch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107081279840" y="5257800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07081599880" y="5239512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Loyalty: repeat entrants earn bonus tickets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07081279840" y="583387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07081599880" y="5815584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Target: 5,000 registered users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MONETIZATION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6 Revenue Streams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577840" cy="1600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1. Ticket Margin (Core)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81912"/>
            <a:ext cx="960120" cy="27432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16002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0B981"/>
                </a:solidFill>
              </a:rPr>
              <a:t>ACTIVE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33-50% gross margin on every competition. Pools reset and repeat — compounding revenue with no incremental cost.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51215469760" y="1417320"/>
            <a:ext cx="5577840" cy="1600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5121565264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2. Premium Membership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51220110340" y="1581912"/>
            <a:ext cx="754380" cy="27432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51220110340" y="1600200"/>
            <a:ext cx="7543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59E0B"/>
                </a:solidFill>
              </a:rPr>
              <a:t>Q2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1215652640" y="20116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$9.99/month "Tick Pick Pro" — early access to pools, bonus tickets, exclusive MEGA competitions.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588643401320"/>
            <a:ext cx="5577840" cy="1600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588643538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3. Brand Sponsorships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06340" y="1588643565912"/>
            <a:ext cx="754380" cy="27432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6340" y="1588643584200"/>
            <a:ext cx="7543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59E0B"/>
                </a:solidFill>
              </a:rPr>
              <a:t>Q2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5886439956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Brands pay to sponsor a competition pool — their product is the prize, their logo featured to thousands.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51215469760" y="1588643401320"/>
            <a:ext cx="5577840" cy="1600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1215652640" y="1588643538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4. Referral &amp; Affiliate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51220110340" y="1588643565912"/>
            <a:ext cx="754380" cy="27432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51220110340" y="1588643584200"/>
            <a:ext cx="7543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59E0B"/>
                </a:solidFill>
              </a:rPr>
              <a:t>MONTH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51215652640" y="15886439956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Affiliates earn 10% of referred ticket sales. Drives viral growth while sharing margin only on new revenue.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177285385320"/>
            <a:ext cx="5577840" cy="1600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177285522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5. Gift Tickets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06340" y="3177285549912"/>
            <a:ext cx="754380" cy="27432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06340" y="3177285568200"/>
            <a:ext cx="7543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59E0B"/>
                </a:solidFill>
              </a:rPr>
              <a:t>Q3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1772859796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Allow users to buy and gift competition entries. High AOV with gifting season spikes (Eid, Christmas).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15469760" y="3177285385320"/>
            <a:ext cx="5577840" cy="1600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51215652640" y="3177285522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6. White-Label B2B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51220316080" y="3177285549912"/>
            <a:ext cx="548640" cy="27432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51220316080" y="31772855682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9CA3AF"/>
                </a:solidFill>
              </a:rPr>
              <a:t>2027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51215652640" y="31772859796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License the platform to brands &amp; corporates running their own prize competitions under their brand.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FINANCIAL PROJECTIONS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Conservative 12-Month Outlook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2834640" cy="19202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CA3AF"/>
                </a:solidFill>
              </a:rPr>
              <a:t>Month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74519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7C3AED"/>
                </a:solidFill>
              </a:rPr>
              <a:t>$14K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974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Monthly Revenue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7180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All 28 pools x 1 cycle/mo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9220653760" y="1463040"/>
            <a:ext cx="2834640" cy="19202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59220653760" y="15544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CA3AF"/>
                </a:solidFill>
              </a:rPr>
              <a:t>Month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9220653760" y="1874519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59E0B"/>
                </a:solidFill>
              </a:rPr>
              <a:t>$42K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9220653760" y="26974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Monthly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9220653760" y="297180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All pools x 3 cycles/mo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18440941760" y="1463040"/>
            <a:ext cx="2834640" cy="19202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18440941760" y="15544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CA3AF"/>
                </a:solidFill>
              </a:rPr>
              <a:t>Month 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8440941760" y="1874519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7C3AED"/>
                </a:solidFill>
              </a:rPr>
              <a:t>$85K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8440941760" y="26974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Monthly Revenue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8440941760" y="297180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+ membership + sponsors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7661229760" y="1463040"/>
            <a:ext cx="2834640" cy="19202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7661229760" y="15544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CA3AF"/>
                </a:solidFill>
              </a:rPr>
              <a:t>Month 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7661229760" y="1874519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10B981"/>
                </a:solidFill>
              </a:rPr>
              <a:t>$150K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661229760" y="26974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Monthly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7661229760" y="297180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Full monetization stack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749039"/>
            <a:ext cx="5577840" cy="2743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862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Why These Numbers Are Achievable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389120"/>
            <a:ext cx="164592" cy="1645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3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Zero marginal cost per additional pool cycle — infrastructure is fully built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82312"/>
            <a:ext cx="164592" cy="1645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7365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Each pool resets automatically after every draw — perpetual revenue engine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175504"/>
            <a:ext cx="164592" cy="1645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12978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28 pools running simultaneously = compounding monthly revenue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52297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Growing user base means pools fill faster and cycle more frequently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5961888"/>
            <a:ext cx="164592" cy="1645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91616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No inventory, no logistics — digital prize delivery only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3749039"/>
            <a:ext cx="5577840" cy="274320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8862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Investment Use of Funds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343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Paid Social &amp; Influencers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43434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59E0B"/>
                </a:solidFill>
              </a:rPr>
              <a:t>40%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4617720"/>
            <a:ext cx="4846320" cy="91440"/>
          </a:xfrm>
          <a:prstGeom prst="round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617720"/>
            <a:ext cx="1938528" cy="914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846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Prize Float (seed pools)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4846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59E0B"/>
                </a:solidFill>
              </a:rPr>
              <a:t>30%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0" y="5120640"/>
            <a:ext cx="4846320" cy="91440"/>
          </a:xfrm>
          <a:prstGeom prst="round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00800" y="5120640"/>
            <a:ext cx="1453896" cy="914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5349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Product &amp; Tech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5349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59E0B"/>
                </a:solidFill>
              </a:rPr>
              <a:t>20%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0" y="5623560"/>
            <a:ext cx="4846320" cy="91440"/>
          </a:xfrm>
          <a:prstGeom prst="round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400800" y="5623560"/>
            <a:ext cx="969264" cy="914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5852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Operations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5852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59E0B"/>
                </a:solidFill>
              </a:rPr>
              <a:t>10%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00800" y="6126480"/>
            <a:ext cx="4846320" cy="91440"/>
          </a:xfrm>
          <a:prstGeom prst="round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0" y="6126480"/>
            <a:ext cx="484632" cy="914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right time, the right market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3749039" cy="39319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5720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Social Commerce Boom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88920"/>
            <a:ext cx="33832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TikTok and Instagram have normalised impulse purchases. A $5 competition entry is the perfect social commerce product — low risk, high excitement, instantly shareable.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5347099360" y="1463040"/>
            <a:ext cx="3749039" cy="39319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95347282240" y="1645920"/>
            <a:ext cx="45720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5347282240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5347282240" y="224028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GCC Growth 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5347282240" y="2788920"/>
            <a:ext cx="33832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The UAE and wider GCC have one of the highest smartphone penetration rates globally, a young population, and strong disposable income. The ideal market for digital prize competitions.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90693832960" y="1463040"/>
            <a:ext cx="3749039" cy="39319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90694015840" y="1645920"/>
            <a:ext cx="45720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0694015840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0694015840" y="224028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Automation =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0694015840" y="2788920"/>
            <a:ext cx="33832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The entire platform — draw, emails, winner announcement — is 100% automated. One person can manage hundreds of pools simultaneously with zero operational overhead.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5440680"/>
            <a:ext cx="11457432" cy="91440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9E0B"/>
                </a:solidFill>
              </a:rPr>
              <a:t>First-mover advantage in the GCC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97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No competing platform currently offers automated, RANDOM.ORG-verified prize competitions at this price point in the UAE.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THE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Built &amp; Live — Right Now at tick-pick.com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3749039" cy="23317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73152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Web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57984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Responsive web app (desktop + mobile)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60319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05455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Real-time pool tracking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62656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07792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User accounts &amp; entry history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364992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10128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Cloudflare Pages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95347099360" y="1463040"/>
            <a:ext cx="3749039" cy="23317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95347282240" y="1600200"/>
            <a:ext cx="73152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5347465120" y="1627632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Automated 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95347327960" y="2157984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5347556560" y="2103120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Postgres triggers auto-fire the draw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95347327960" y="2560319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95347556560" y="2505455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RANDOM.ORG API for certified randomness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95347327960" y="2962656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5347556560" y="2907792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Instant winner emails via Resend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95347327960" y="3364992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95347556560" y="3310128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Admin notification system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90693832960" y="2257545335040"/>
            <a:ext cx="3749039" cy="23317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190694015840" y="2257545472200"/>
            <a:ext cx="73152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90694198720" y="2257545499632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Trust &amp; Security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90694061560" y="2257546029984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90694290160" y="2257545975120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RANDOM.ORG certified draws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0694061560" y="2257546432319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90694290160" y="2257546377455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Public winners page (all results visible)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90694061560" y="2257546834656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90694290160" y="2257546779792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Row-level security (Supabase)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90694061560" y="2257547236992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90694290160" y="2257547182128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GDPR-ready Terms &amp; Privacy pages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2257545335040"/>
            <a:ext cx="3749039" cy="23317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48640" y="2257545472200"/>
            <a:ext cx="73152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2257545499632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Communication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2257546029984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2257545975120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Custom domain email via Zoho Mail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2257546432319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2257546377455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Automated winner email sent in &lt;60 sec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2257546834656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2257546779792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Admin draw report email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2257547236992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2257547182128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support@tick-pick.com active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95347099360" y="4515089207040"/>
            <a:ext cx="3749039" cy="23317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95347282240" y="4515089344200"/>
            <a:ext cx="73152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95347465120" y="4515089371632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SEO &amp; Marketing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95347327960" y="4515089901984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95347556560" y="4515089847120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OG social share image (WhatsApp/iMessage)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95347327960" y="4515090304319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95347556560" y="4515090249455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Blog with 4 live SEO articles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95347327960" y="4515090706656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95347556560" y="4515090651792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Help centre, Contact &amp; FAQ pages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595347327960" y="4515091108992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95347556560" y="4515091054128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All footer pages live &amp; linked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90693832960" y="4515089207040"/>
            <a:ext cx="3749039" cy="23317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190694015840" y="4515089344200"/>
            <a:ext cx="73152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90694198720" y="4515089371632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Competition Tiers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190694061560" y="4515089901984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90694290160" y="4515089847120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MICRO: $50 / $75 / $100 prizes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190694061560" y="4515090304319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90694290160" y="4515090249455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VOLUME: $150 / $200 / $300 prizes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190694061560" y="4515090706656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90694290160" y="4515090651792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MEGA: $500 / $750 / $1,000 prizes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190694061560" y="4515091108992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90694290160" y="4515091054128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28 active competitions ready to launch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0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886200"/>
          </a:xfrm>
          <a:prstGeom prst="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0" y="731520"/>
            <a:ext cx="64008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74980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749808"/>
            <a:ext cx="274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Tick</a:t>
            </a:r>
            <a:r>
              <a:rPr sz="3000" b="1">
                <a:solidFill>
                  <a:srgbClr val="F59E0B"/>
                </a:solidFill>
              </a:rPr>
              <a:t>Pick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508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59E0B"/>
                </a:solidFill>
              </a:rPr>
              <a:t>THE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Join us at the starting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CA3AF"/>
                </a:solidFill>
              </a:rPr>
              <a:t>The platform is built. The economics work. We are raising to pour fuel on the fire.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CA3AF"/>
                </a:solidFill>
              </a:rPr>
              <a:t>Marketing, prize float, and scale.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" y="3749039"/>
            <a:ext cx="3474720" cy="14630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" y="3931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Live 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" y="4297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tick-pick.com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7116" y="3749039"/>
            <a:ext cx="3474720" cy="14630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7116" y="3931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Contact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7116" y="4297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support@tick-pick.com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4716" y="3749039"/>
            <a:ext cx="3474720" cy="14630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4716" y="3931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Founder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4716" y="4297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Alain Badran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(c) 2026 Tick Pick. All rights reserved. Confidential -- for investor use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